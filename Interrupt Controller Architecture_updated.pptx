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6" r:id="rId3"/>
    <p:sldId id="257" r:id="rId4"/>
    <p:sldId id="258" r:id="rId5"/>
    <p:sldId id="259" r:id="rId6"/>
    <p:sldId id="267" r:id="rId7"/>
    <p:sldId id="260" r:id="rId8"/>
    <p:sldId id="261" r:id="rId9"/>
    <p:sldId id="262" r:id="rId10"/>
    <p:sldId id="263" r:id="rId11"/>
    <p:sldId id="268" r:id="rId12"/>
    <p:sldId id="271" r:id="rId13"/>
    <p:sldId id="273" r:id="rId14"/>
    <p:sldId id="269" r:id="rId15"/>
    <p:sldId id="272" r:id="rId16"/>
    <p:sldId id="274" r:id="rId17"/>
    <p:sldId id="275" r:id="rId18"/>
    <p:sldId id="279" r:id="rId19"/>
    <p:sldId id="280" r:id="rId20"/>
    <p:sldId id="281" r:id="rId21"/>
    <p:sldId id="282" r:id="rId22"/>
    <p:sldId id="283" r:id="rId23"/>
    <p:sldId id="285" r:id="rId24"/>
    <p:sldId id="286" r:id="rId25"/>
    <p:sldId id="287" r:id="rId26"/>
    <p:sldId id="277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3A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6237" y="2054857"/>
            <a:ext cx="3819525" cy="2952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4876" y="2133530"/>
            <a:ext cx="147637" cy="1333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92759" y="2676081"/>
            <a:ext cx="8571071" cy="613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830"/>
              </a:lnSpc>
            </a:pPr>
            <a:r>
              <a:rPr sz="4200" b="1" i="0" u="none" dirty="0">
                <a:solidFill>
                  <a:srgbClr val="FFFFFF"/>
                </a:solidFill>
                <a:latin typeface="Poppins"/>
              </a:rPr>
              <a:t>16-Source Interrupt Controller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62187" y="3522027"/>
            <a:ext cx="7219950" cy="310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41"/>
              </a:lnSpc>
            </a:pPr>
            <a:r>
              <a:rPr sz="1575" b="0" i="0" u="none" dirty="0">
                <a:solidFill>
                  <a:srgbClr val="94A3B8"/>
                </a:solidFill>
                <a:latin typeface="Inter"/>
              </a:rPr>
              <a:t>Priority Resolution, Selective Masking &amp; Multi-Cycle Handshake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90989" y="4007626"/>
            <a:ext cx="6772275" cy="250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 dirty="0">
                <a:solidFill>
                  <a:srgbClr val="38BDF8"/>
                </a:solidFill>
                <a:latin typeface="Inter SemiBold"/>
              </a:rPr>
              <a:t>Team: T028</a:t>
            </a:r>
            <a:r>
              <a:rPr sz="1125" b="0" i="0" u="none" dirty="0">
                <a:solidFill>
                  <a:srgbClr val="CBD5E1"/>
                </a:solidFill>
                <a:latin typeface="Inter"/>
              </a:rPr>
              <a:t> | </a:t>
            </a:r>
            <a:r>
              <a:rPr sz="1125" b="0" i="0" u="none" dirty="0">
                <a:solidFill>
                  <a:srgbClr val="38BDF8"/>
                </a:solidFill>
                <a:latin typeface="Inter SemiBold"/>
              </a:rPr>
              <a:t>4 Students</a:t>
            </a:r>
            <a:r>
              <a:rPr sz="1125" b="0" i="0" u="none" dirty="0">
                <a:solidFill>
                  <a:srgbClr val="CBD5E1"/>
                </a:solidFill>
                <a:latin typeface="Inter"/>
              </a:rPr>
              <a:t> | </a:t>
            </a:r>
            <a:r>
              <a:rPr sz="1125" b="0" i="0" u="none" dirty="0">
                <a:solidFill>
                  <a:srgbClr val="38BDF8"/>
                </a:solidFill>
                <a:latin typeface="Inter SemiBold"/>
              </a:rPr>
              <a:t>Focus: Hardware Synchronization &amp; Race Mitigation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9766378-B619-9EEA-7DF3-ED521D56802B}"/>
              </a:ext>
            </a:extLst>
          </p:cNvPr>
          <p:cNvSpPr/>
          <p:nvPr/>
        </p:nvSpPr>
        <p:spPr>
          <a:xfrm>
            <a:off x="7351776" y="4754880"/>
            <a:ext cx="4507992" cy="140817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M Abhiram Manikanta Reddy	–  2400040026</a:t>
            </a:r>
          </a:p>
          <a:p>
            <a:r>
              <a:rPr lang="en-IN" dirty="0"/>
              <a:t>B Lokesh	                                   –  2400040120</a:t>
            </a:r>
          </a:p>
          <a:p>
            <a:r>
              <a:rPr lang="en-IN" dirty="0"/>
              <a:t>N Shashi Kiran Reddy	         –  2400040132</a:t>
            </a:r>
          </a:p>
          <a:p>
            <a:r>
              <a:rPr lang="en-IN" dirty="0"/>
              <a:t>A Charan Teja Reddy	         –  2400040133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06FF9-3374-7FCA-6730-884915671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11256264" cy="457199"/>
          </a:xfrm>
        </p:spPr>
        <p:txBody>
          <a:bodyPr>
            <a:normAutofit fontScale="90000"/>
          </a:bodyPr>
          <a:lstStyle/>
          <a:p>
            <a:pPr algn="l"/>
            <a:r>
              <a:rPr lang="en-US" sz="2800" b="1" dirty="0">
                <a:latin typeface="Poppins" panose="00000500000000000000" pitchFamily="2" charset="0"/>
                <a:cs typeface="Poppins" panose="00000500000000000000" pitchFamily="2" charset="0"/>
              </a:rPr>
              <a:t>Problem Statement</a:t>
            </a:r>
            <a:endParaRPr lang="en-IN" sz="28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ADE4C56-DE7A-D17E-4FEB-88CB6ED6DF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8528" y="1261872"/>
            <a:ext cx="8183880" cy="4507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2230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19039"/>
            <a:ext cx="5334000" cy="302954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319039"/>
            <a:ext cx="5334000" cy="30295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76350" y="2671464"/>
            <a:ext cx="4490561" cy="3333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 u="none" dirty="0">
                <a:solidFill>
                  <a:srgbClr val="1E40AF"/>
                </a:solidFill>
                <a:latin typeface="Poppins"/>
              </a:rPr>
              <a:t>16-Channel Line Aggregation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166764"/>
            <a:ext cx="4629150" cy="752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Combines 16 distinct peripheral hardware interrupt lines (IRQ0 to IRQ15) into a single processor interrupt request signal.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4081462"/>
            <a:ext cx="4629150" cy="752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Translates pending hardware requests into a 4-bit vector ID during the CPU acknowledge pulse to streamline processing.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91350" y="2671464"/>
            <a:ext cx="4490561" cy="3333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 u="none">
                <a:solidFill>
                  <a:srgbClr val="1E40AF"/>
                </a:solidFill>
                <a:latin typeface="Poppins"/>
              </a:rPr>
              <a:t>Preemptive Priority Handling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38925" y="3166764"/>
            <a:ext cx="4629150" cy="752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Supports nested interrupt priority rules, allowing critical high-priority events to interrupt running lower-priority handlers.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38925" y="4081462"/>
            <a:ext cx="4629150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Provides software-configurable Interrupt Mask Registers (IMR) to selectively enable or suppress individual IRQ lines.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925" y="2723852"/>
            <a:ext cx="257175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8925" y="2723852"/>
            <a:ext cx="257175" cy="228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System Requirements &amp; Use Cases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" y="100012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24062"/>
            <a:ext cx="533400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6300" y="2024062"/>
            <a:ext cx="5029200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>
                <a:solidFill>
                  <a:srgbClr val="0F172A"/>
                </a:solidFill>
                <a:latin typeface="Inter"/>
              </a:rPr>
              <a:t>16-bit Interrupt Request Register (IRR):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Latches asynchronous peripheral inputs (IRQ0–IRQ15).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300" y="2697360"/>
            <a:ext cx="5029200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>
                <a:solidFill>
                  <a:srgbClr val="0F172A"/>
                </a:solidFill>
                <a:latin typeface="Inter"/>
              </a:rPr>
              <a:t>16-bit Interrupt Mask Register (IMR):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Bitwise mask to disable or clear specific interrupt channels.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3370659"/>
            <a:ext cx="5029200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>
                <a:solidFill>
                  <a:srgbClr val="0F172A"/>
                </a:solidFill>
                <a:latin typeface="Inter"/>
              </a:rPr>
              <a:t>16-bit In-Service Register (ISR):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Tracks currently executing interrupt levels for nested preemption.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4043957"/>
            <a:ext cx="5029200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>
                <a:solidFill>
                  <a:srgbClr val="0F172A"/>
                </a:solidFill>
                <a:latin typeface="Inter"/>
              </a:rPr>
              <a:t>Priority Resolver (PR):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Combinational logic evaluating highest pending unmasked bit in real time.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2033587"/>
            <a:ext cx="5314950" cy="3600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047875"/>
            <a:ext cx="171450" cy="1809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721173"/>
            <a:ext cx="171450" cy="1809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394471"/>
            <a:ext cx="171450" cy="1809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4067770"/>
            <a:ext cx="152400" cy="1809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16-Channel Architecture &amp; Registers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" y="100012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76250"/>
            <a:ext cx="5600700" cy="523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Nested Priority Handling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0"/>
            <a:ext cx="5905500" cy="6858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71500" y="100012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71500" y="2707286"/>
            <a:ext cx="5600700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1650" b="1" dirty="0">
                <a:solidFill>
                  <a:srgbClr val="1E3A8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Nested Interrupt Handling</a:t>
            </a:r>
            <a:endParaRPr sz="1650" b="1" i="0" u="none" dirty="0">
              <a:solidFill>
                <a:srgbClr val="1E3A8A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71500" y="3233521"/>
            <a:ext cx="5334000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lang="en-IN" sz="1350" dirty="0">
                <a:latin typeface="Inter"/>
              </a:rPr>
              <a:t>A higher-priority interrupt can </a:t>
            </a:r>
            <a:r>
              <a:rPr lang="en-IN" sz="1350" dirty="0" err="1">
                <a:latin typeface="Inter"/>
              </a:rPr>
              <a:t>preempt</a:t>
            </a:r>
            <a:r>
              <a:rPr lang="en-IN" sz="1350" dirty="0">
                <a:latin typeface="Inter"/>
              </a:rPr>
              <a:t> a currently active lower-priority interrupt. After the higher-priority interrupt is serviced, the processor can return to the lower-priority interrupt.</a:t>
            </a:r>
            <a:endParaRPr sz="1350" b="0" i="0" u="none" dirty="0">
              <a:solidFill>
                <a:srgbClr val="334155"/>
              </a:solidFill>
              <a:latin typeface="Inter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71500" y="1313101"/>
            <a:ext cx="5600700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1600" b="1" dirty="0">
                <a:solidFill>
                  <a:srgbClr val="1E3A8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Fixed </a:t>
            </a:r>
            <a:r>
              <a:rPr lang="en-IN" sz="1650" b="1" dirty="0">
                <a:solidFill>
                  <a:srgbClr val="1E3A8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Priority</a:t>
            </a:r>
            <a:r>
              <a:rPr lang="en-IN" sz="1600" b="1" dirty="0">
                <a:solidFill>
                  <a:srgbClr val="1E3A8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Mode</a:t>
            </a:r>
            <a:endParaRPr sz="1650" b="1" i="0" u="none" dirty="0">
              <a:solidFill>
                <a:srgbClr val="1E3A8A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71500" y="1879796"/>
            <a:ext cx="533400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lang="en-IN" sz="1350" dirty="0">
                <a:latin typeface="Inter"/>
              </a:rPr>
              <a:t>IRQ15 holds the highest priority; IRQ0 holds the lowest priority. The priority resolver selects the highest-priority pending and unmasked interrupt.</a:t>
            </a:r>
            <a:endParaRPr sz="1350" b="0" i="0" u="none" dirty="0">
              <a:solidFill>
                <a:srgbClr val="334155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CC37C5-B7DD-6219-EF50-A8F900DAC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6A6DDF04-294B-C564-42B0-A2BF6E1F50B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aintBrush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9BC8360-70EB-374C-6506-C3DE16411BAD}"/>
              </a:ext>
            </a:extLst>
          </p:cNvPr>
          <p:cNvSpPr txBox="1"/>
          <p:nvPr/>
        </p:nvSpPr>
        <p:spPr>
          <a:xfrm>
            <a:off x="571500" y="530438"/>
            <a:ext cx="11601450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2700" b="1" i="0" u="none" dirty="0">
                <a:solidFill>
                  <a:srgbClr val="0F172A"/>
                </a:solidFill>
                <a:latin typeface="Poppins"/>
              </a:rPr>
              <a:t>Block Diagram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600D458-392B-57FD-AC39-787F1E0E5B9C}"/>
              </a:ext>
            </a:extLst>
          </p:cNvPr>
          <p:cNvSpPr/>
          <p:nvPr/>
        </p:nvSpPr>
        <p:spPr>
          <a:xfrm>
            <a:off x="571500" y="100012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3F87E5A-9B01-94BC-2C78-8524BC380E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5213" y="1152525"/>
            <a:ext cx="8240661" cy="549377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7085663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33637"/>
            <a:ext cx="3505200" cy="28003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2433637"/>
            <a:ext cx="3505200" cy="28003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5300" y="2433637"/>
            <a:ext cx="3505200" cy="28003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2757487"/>
            <a:ext cx="552450" cy="5524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9625" y="3481387"/>
            <a:ext cx="3180397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oppins"/>
              </a:rPr>
              <a:t>INTA Handshake Races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3910012"/>
            <a:ext cx="3028950" cy="637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743"/>
              </a:lnSpc>
            </a:pPr>
            <a:r>
              <a:rPr sz="1125" b="0" i="0" u="none" dirty="0">
                <a:solidFill>
                  <a:srgbClr val="475569"/>
                </a:solidFill>
                <a:latin typeface="Inter"/>
              </a:rPr>
              <a:t>Race conditions occur when a new, higher-priority IRQ arrives in the middle of a multi-cycle CPU interrupt acknowledge handshake.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1525" y="2757487"/>
            <a:ext cx="552450" cy="552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81525" y="3481387"/>
            <a:ext cx="3180397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oppins"/>
              </a:rPr>
              <a:t>Level vs. Edge Triggering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1525" y="3910012"/>
            <a:ext cx="3028950" cy="637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743"/>
              </a:lnSpc>
            </a:pPr>
            <a:r>
              <a:rPr sz="1125" b="0" i="0" u="none" dirty="0">
                <a:solidFill>
                  <a:srgbClr val="475569"/>
                </a:solidFill>
                <a:latin typeface="Inter"/>
              </a:rPr>
              <a:t>Inconsistent pulse widths cause double interrupts (edge) or missing clears leading to endless IRQ re-triggering (level).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53425" y="2757487"/>
            <a:ext cx="552450" cy="5524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53425" y="3481387"/>
            <a:ext cx="3180397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lang="en-IN" sz="1500" b="1" dirty="0">
                <a:latin typeface="Poppins" panose="00000500000000000000" pitchFamily="2" charset="0"/>
                <a:cs typeface="Poppins" panose="00000500000000000000" pitchFamily="2" charset="0"/>
              </a:rPr>
              <a:t>Pending Interrupt Management</a:t>
            </a:r>
            <a:endParaRPr sz="1500" b="1" i="0" u="none" dirty="0">
              <a:solidFill>
                <a:srgbClr val="0F172A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353425" y="3910012"/>
            <a:ext cx="3028950" cy="8694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lang="en-IN" sz="1130" dirty="0">
                <a:latin typeface="Inter"/>
              </a:rPr>
              <a:t>New interrupts arriving while another interrupt is being acknowledged must be captured correctly and must not be lost. The pending register preserves </a:t>
            </a:r>
            <a:r>
              <a:rPr lang="en-IN" sz="1130" dirty="0" err="1">
                <a:latin typeface="Inter"/>
              </a:rPr>
              <a:t>unserviced</a:t>
            </a:r>
            <a:r>
              <a:rPr lang="en-IN" sz="1130" dirty="0">
                <a:latin typeface="Inter"/>
              </a:rPr>
              <a:t> interrupt requests for the next arbitration cycle.</a:t>
            </a:r>
            <a:endParaRPr sz="1130" b="0" i="0" u="none" dirty="0">
              <a:solidFill>
                <a:srgbClr val="475569"/>
              </a:solidFill>
              <a:latin typeface="Inter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5350" y="2881312"/>
            <a:ext cx="381000" cy="3048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67250" y="2881312"/>
            <a:ext cx="381000" cy="3048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77250" y="2881312"/>
            <a:ext cx="304800" cy="304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Primary Hardware Bottlenecks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100012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86917"/>
            <a:ext cx="11049000" cy="269364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0127045"/>
              </p:ext>
            </p:extLst>
          </p:nvPr>
        </p:nvGraphicFramePr>
        <p:xfrm>
          <a:off x="581025" y="2496442"/>
          <a:ext cx="11029948" cy="26745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98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15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86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4918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Feature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Level-Triggered Mode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Edge-Triggered Mode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4918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Inter"/>
                        </a:rPr>
                        <a:t>Detection Criterion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Active HIGH voltage level sustained on IRQ line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LOW-to-HIGH rising edge transition on IRQ line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4918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Inter"/>
                        </a:rPr>
                        <a:t>Latching Mechanism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130" dirty="0">
                          <a:latin typeface="Inter"/>
                        </a:rPr>
                        <a:t>Remains pending while interrupt source is active</a:t>
                      </a:r>
                      <a:endParaRPr sz="1130" b="0" i="0" u="none" dirty="0">
                        <a:solidFill>
                          <a:srgbClr val="334155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dirty="0"/>
                        <a:t>Latched when a rising edge is detected</a:t>
                      </a:r>
                      <a:endParaRPr sz="1125" b="0" i="0" u="none" dirty="0">
                        <a:solidFill>
                          <a:srgbClr val="334155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4918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Inter"/>
                        </a:rPr>
                        <a:t>Clearing Action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130" dirty="0">
                          <a:latin typeface="Inter"/>
                        </a:rPr>
                        <a:t>Source should </a:t>
                      </a:r>
                      <a:r>
                        <a:rPr lang="en-IN" sz="1130" dirty="0" err="1">
                          <a:latin typeface="Inter"/>
                        </a:rPr>
                        <a:t>deassert</a:t>
                      </a:r>
                      <a:r>
                        <a:rPr lang="en-IN" sz="1130" dirty="0">
                          <a:latin typeface="Inter"/>
                        </a:rPr>
                        <a:t> to prevent re-triggering</a:t>
                      </a:r>
                      <a:endParaRPr sz="1130" b="0" i="0" u="none" dirty="0">
                        <a:solidFill>
                          <a:srgbClr val="334155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dirty="0"/>
                        <a:t>Pending interrupt is cleared when the interrupt is acknowledged.</a:t>
                      </a:r>
                      <a:endParaRPr sz="1125" b="0" i="0" u="none" dirty="0">
                        <a:solidFill>
                          <a:srgbClr val="334155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4918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Inter"/>
                        </a:rPr>
                        <a:t>Design Risk / Bottleneck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3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Stuck-at-HIGH pins cause </a:t>
                      </a:r>
                      <a:r>
                        <a:rPr lang="en-IN" sz="1130" dirty="0">
                          <a:latin typeface="Inter"/>
                        </a:rPr>
                        <a:t>repeated interrupt servicing</a:t>
                      </a:r>
                      <a:endParaRPr sz="1130" b="0" i="0" u="none" dirty="0">
                        <a:solidFill>
                          <a:srgbClr val="334155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Glitch sensitivity; lost pulses if pulse width &lt; </a:t>
                      </a:r>
                      <a:r>
                        <a:rPr sz="1125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t_CLK</a:t>
                      </a:r>
                      <a:endParaRPr sz="1125" b="0" i="0" u="none" dirty="0">
                        <a:solidFill>
                          <a:srgbClr val="334155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81025" y="3558926"/>
            <a:ext cx="2199828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80853" y="3558926"/>
            <a:ext cx="4531518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2372" y="3558926"/>
            <a:ext cx="4298602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81025" y="4094708"/>
            <a:ext cx="2199828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80853" y="4094708"/>
            <a:ext cx="4531518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2372" y="4094708"/>
            <a:ext cx="4298602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81025" y="4630489"/>
            <a:ext cx="2199828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80853" y="4630489"/>
            <a:ext cx="4531518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2372" y="4630489"/>
            <a:ext cx="4298602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Level vs. Edge Trigger Analysis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1500" y="100012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814762"/>
            <a:ext cx="11049000" cy="38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119562"/>
            <a:ext cx="2430660" cy="129897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4180" y="2249090"/>
            <a:ext cx="2430660" cy="129897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6860" y="4119562"/>
            <a:ext cx="2430660" cy="150554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89541" y="2249090"/>
            <a:ext cx="2430660" cy="129897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00757" y="4300537"/>
            <a:ext cx="2172146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1E40AF"/>
                </a:solidFill>
                <a:latin typeface="Poppins"/>
              </a:rPr>
              <a:t>1. IRQ Arrival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2475" y="4691062"/>
            <a:ext cx="2068710" cy="4131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27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Peripheral asserts IRQ; unmasked line latches into IRR.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73437" y="2430065"/>
            <a:ext cx="2172146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1E40AF"/>
                </a:solidFill>
                <a:latin typeface="Poppins"/>
              </a:rPr>
              <a:t>2. Priority Lock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25155" y="2820590"/>
            <a:ext cx="2068710" cy="4131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27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Priority resolver freezes winner to prevent mid-cycle races.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118" y="4300537"/>
            <a:ext cx="2172146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1E40AF"/>
                </a:solidFill>
                <a:latin typeface="Poppins"/>
              </a:rPr>
              <a:t>3. INTA Cycle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7835" y="4691062"/>
            <a:ext cx="2068710" cy="619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27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CPU acknowledges; latched vector ID locked into output buffer.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18798" y="2430065"/>
            <a:ext cx="2172146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1E40AF"/>
                </a:solidFill>
                <a:latin typeface="Poppins"/>
              </a:rPr>
              <a:t>4. INTA Cycle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0516" y="2820590"/>
            <a:ext cx="2068710" cy="4131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27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Vector sent to data bus; winner bit moved to ISR register.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INTA Handshake &amp; Race Control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" y="100012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672530" y="371951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545210" y="371951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417891" y="371951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290571" y="371951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57487"/>
            <a:ext cx="5334000" cy="21526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52500" y="3138487"/>
            <a:ext cx="4572000" cy="1047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8250"/>
              </a:lnSpc>
            </a:pPr>
            <a:r>
              <a:rPr sz="8250" b="1" i="0" u="none">
                <a:solidFill>
                  <a:srgbClr val="38BDF8"/>
                </a:solidFill>
                <a:latin typeface="Poppins"/>
              </a:rPr>
              <a:t>16:1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4281487"/>
            <a:ext cx="4572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E2E8F0"/>
                </a:solidFill>
                <a:latin typeface="Inter SemiBold"/>
              </a:rPr>
              <a:t>Peripheral IRQ Aggregation Ratio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0" y="2652414"/>
            <a:ext cx="56007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1E3A8A"/>
                </a:solidFill>
                <a:latin typeface="Poppins"/>
              </a:rPr>
              <a:t>Resolving Handshake Races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0" y="3185814"/>
            <a:ext cx="5334000" cy="752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By implementing a 2-stage synchronizer and an atomic </a:t>
            </a:r>
            <a:r>
              <a:rPr sz="1275" b="1" i="0" u="none">
                <a:solidFill>
                  <a:srgbClr val="334155"/>
                </a:solidFill>
                <a:latin typeface="Inter"/>
              </a:rPr>
              <a:t>Priority Freeze Latch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on INTA assert, Team T028 resolves race conditions cleanly.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0" y="4100512"/>
            <a:ext cx="5334000" cy="752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New incoming IRQs during an active INTA cycle are queued safely in the IRR for the next arbitration cycle without corrupting the active vector bus.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 dirty="0">
                <a:solidFill>
                  <a:srgbClr val="0F172A"/>
                </a:solidFill>
                <a:latin typeface="Poppins"/>
              </a:rPr>
              <a:t>16-Line Vector Aggregation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" y="100012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6DD61A9-6607-5C61-8610-8AC593CE53D3}"/>
              </a:ext>
            </a:extLst>
          </p:cNvPr>
          <p:cNvSpPr txBox="1"/>
          <p:nvPr/>
        </p:nvSpPr>
        <p:spPr>
          <a:xfrm>
            <a:off x="571500" y="530438"/>
            <a:ext cx="11601450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sz="2700" b="1" dirty="0">
                <a:solidFill>
                  <a:srgbClr val="0F172A"/>
                </a:solidFill>
                <a:latin typeface="Poppins"/>
              </a:rPr>
              <a:t> </a:t>
            </a:r>
            <a:r>
              <a:rPr lang="en-US" sz="2700" b="1" dirty="0" err="1">
                <a:solidFill>
                  <a:srgbClr val="0F172A"/>
                </a:solidFill>
                <a:latin typeface="Poppins"/>
              </a:rPr>
              <a:t>Vivado</a:t>
            </a:r>
            <a:r>
              <a:rPr lang="en-US" sz="2700" b="1" dirty="0">
                <a:solidFill>
                  <a:srgbClr val="0F172A"/>
                </a:solidFill>
                <a:latin typeface="Poppins"/>
              </a:rPr>
              <a:t> schematic</a:t>
            </a:r>
            <a:endParaRPr sz="2700" b="1" i="0" u="none" dirty="0">
              <a:solidFill>
                <a:srgbClr val="0F172A"/>
              </a:solidFill>
              <a:latin typeface="Poppin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63DC87-975C-D5F8-B6D6-5A89D4602A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21174"/>
            <a:ext cx="11949195" cy="5654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8496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F9A82-6DB6-2616-E081-70DC24845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841480" cy="433864"/>
          </a:xfrm>
        </p:spPr>
        <p:txBody>
          <a:bodyPr>
            <a:noAutofit/>
          </a:bodyPr>
          <a:lstStyle/>
          <a:p>
            <a:pPr algn="l"/>
            <a:r>
              <a:rPr lang="en-US" sz="2700" b="1" dirty="0">
                <a:latin typeface="Poppins" panose="00000500000000000000" pitchFamily="2" charset="0"/>
                <a:cs typeface="Poppins" panose="00000500000000000000" pitchFamily="2" charset="0"/>
              </a:rPr>
              <a:t>Cadence Synthesis</a:t>
            </a:r>
            <a:endParaRPr lang="en-IN" sz="27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818BEA1-C328-EC39-E686-83EFBC77B9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895350"/>
            <a:ext cx="11384280" cy="56880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9DDF125-1091-2023-9184-010A3CE47D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33865"/>
            <a:ext cx="12192000" cy="6424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1426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35DD3-16B5-C1FA-9860-43F3D744D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48" y="128016"/>
            <a:ext cx="12036552" cy="429768"/>
          </a:xfrm>
        </p:spPr>
        <p:txBody>
          <a:bodyPr>
            <a:normAutofit fontScale="90000"/>
          </a:bodyPr>
          <a:lstStyle/>
          <a:p>
            <a:pPr algn="l"/>
            <a:r>
              <a:rPr lang="en-US" sz="2800" b="1" dirty="0">
                <a:latin typeface="Poppins" panose="00000500000000000000" pitchFamily="2" charset="0"/>
                <a:cs typeface="Poppins" panose="00000500000000000000" pitchFamily="2" charset="0"/>
              </a:rPr>
              <a:t>Result </a:t>
            </a:r>
            <a:r>
              <a:rPr lang="en-US" sz="2800" b="1" dirty="0" err="1">
                <a:latin typeface="Poppins" panose="00000500000000000000" pitchFamily="2" charset="0"/>
                <a:cs typeface="Poppins" panose="00000500000000000000" pitchFamily="2" charset="0"/>
              </a:rPr>
              <a:t>Vivado</a:t>
            </a:r>
            <a:r>
              <a:rPr lang="en-US" sz="2800" b="1" dirty="0">
                <a:latin typeface="Poppins" panose="00000500000000000000" pitchFamily="2" charset="0"/>
                <a:cs typeface="Poppins" panose="00000500000000000000" pitchFamily="2" charset="0"/>
              </a:rPr>
              <a:t>:</a:t>
            </a:r>
            <a:endParaRPr lang="en-IN" sz="28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A6AF336-3117-BD40-3615-68EDAEAF30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448" y="557785"/>
            <a:ext cx="11896344" cy="6089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1211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4B81EC2-F9CA-A05A-F41D-AE9CD28ED701}"/>
              </a:ext>
            </a:extLst>
          </p:cNvPr>
          <p:cNvSpPr txBox="1"/>
          <p:nvPr/>
        </p:nvSpPr>
        <p:spPr>
          <a:xfrm>
            <a:off x="571500" y="530438"/>
            <a:ext cx="11601450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2700" b="1" i="0" u="none" dirty="0">
                <a:solidFill>
                  <a:srgbClr val="0F172A"/>
                </a:solidFill>
                <a:latin typeface="Poppins"/>
              </a:rPr>
              <a:t>Cadence Result</a:t>
            </a:r>
            <a:endParaRPr sz="2700" b="1" i="0" u="none" dirty="0">
              <a:solidFill>
                <a:srgbClr val="0F172A"/>
              </a:solidFill>
              <a:latin typeface="Poppin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037886-786F-DEA9-22F7-333F2182C5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22376" y="978569"/>
            <a:ext cx="10771632" cy="5687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9870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4B022-5036-BFC1-863E-B66EA0492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" y="128016"/>
            <a:ext cx="12033504" cy="502920"/>
          </a:xfrm>
        </p:spPr>
        <p:txBody>
          <a:bodyPr>
            <a:noAutofit/>
          </a:bodyPr>
          <a:lstStyle/>
          <a:p>
            <a:pPr algn="l"/>
            <a:r>
              <a:rPr lang="en-IN" sz="2800" b="1" dirty="0">
                <a:latin typeface="Poppins" panose="00000500000000000000" pitchFamily="2" charset="0"/>
                <a:cs typeface="Poppins" panose="00000500000000000000" pitchFamily="2" charset="0"/>
              </a:rPr>
              <a:t>Design Rule Check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39F313B-3D32-6513-0CB1-75B4E1B633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5062" y="886968"/>
            <a:ext cx="10730088" cy="58430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3596FE-D002-77F6-1C72-A08C405D64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" y="694944"/>
            <a:ext cx="11686032" cy="5907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2728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2D363-3C97-C238-8950-7A65291F5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11329416" cy="530034"/>
          </a:xfrm>
        </p:spPr>
        <p:txBody>
          <a:bodyPr>
            <a:noAutofit/>
          </a:bodyPr>
          <a:lstStyle/>
          <a:p>
            <a:pPr algn="l"/>
            <a:r>
              <a:rPr lang="en-US" sz="2800" b="1" dirty="0">
                <a:latin typeface="Poppins" panose="00000500000000000000" pitchFamily="2" charset="0"/>
                <a:cs typeface="Poppins" panose="00000500000000000000" pitchFamily="2" charset="0"/>
              </a:rPr>
              <a:t>Power Analysis</a:t>
            </a:r>
            <a:endParaRPr lang="en-IN" sz="28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A151881-28A7-37FB-9D47-7C2A916F29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37633"/>
          <a:stretch>
            <a:fillRect/>
          </a:stretch>
        </p:blipFill>
        <p:spPr>
          <a:xfrm>
            <a:off x="566928" y="987552"/>
            <a:ext cx="6583680" cy="5513261"/>
          </a:xfrm>
          <a:prstGeom prst="rect">
            <a:avLst/>
          </a:prstGeom>
        </p:spPr>
      </p:pic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1075C24C-4F93-41AF-225D-D9692D9169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811" r="76204" b="-1072"/>
          <a:stretch>
            <a:fillRect/>
          </a:stretch>
        </p:blipFill>
        <p:spPr>
          <a:xfrm>
            <a:off x="7516650" y="1115568"/>
            <a:ext cx="3328134" cy="5385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8908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B9B08-0188-AE21-29B6-720A93EB6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11521440" cy="502602"/>
          </a:xfrm>
        </p:spPr>
        <p:txBody>
          <a:bodyPr>
            <a:normAutofit fontScale="90000"/>
          </a:bodyPr>
          <a:lstStyle/>
          <a:p>
            <a:pPr algn="l"/>
            <a:r>
              <a:rPr lang="en-US" sz="2800" b="1" dirty="0">
                <a:latin typeface="Poppins" panose="00000500000000000000" pitchFamily="2" charset="0"/>
                <a:cs typeface="Poppins" panose="00000500000000000000" pitchFamily="2" charset="0"/>
              </a:rPr>
              <a:t>Filter</a:t>
            </a:r>
            <a:endParaRPr lang="en-IN" sz="28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7043479-137A-154D-2020-7D538F3248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8922" y="896112"/>
            <a:ext cx="11301702" cy="568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9078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783AA-8156-2CC2-A867-D4F691C65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5FB3E-D304-4ECB-2773-07F349176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" y="91440"/>
            <a:ext cx="11887200" cy="530034"/>
          </a:xfrm>
        </p:spPr>
        <p:txBody>
          <a:bodyPr>
            <a:normAutofit/>
          </a:bodyPr>
          <a:lstStyle/>
          <a:p>
            <a:pPr algn="l"/>
            <a:r>
              <a:rPr lang="en-US" sz="2800" b="1" dirty="0">
                <a:latin typeface="Poppins" panose="00000500000000000000" pitchFamily="2" charset="0"/>
                <a:cs typeface="Poppins" panose="00000500000000000000" pitchFamily="2" charset="0"/>
              </a:rPr>
              <a:t>Verify Connectivity</a:t>
            </a:r>
            <a:endParaRPr lang="en-IN" sz="28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A456D16-B4E9-91BF-2178-FA055C2C37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" y="704088"/>
            <a:ext cx="11765280" cy="6062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8266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0AD16-3875-331B-22C2-625F90F28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E5C06-0377-2870-434B-A5BA36622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" y="91440"/>
            <a:ext cx="11887200" cy="530034"/>
          </a:xfrm>
        </p:spPr>
        <p:txBody>
          <a:bodyPr>
            <a:normAutofit/>
          </a:bodyPr>
          <a:lstStyle/>
          <a:p>
            <a:pPr algn="l"/>
            <a:r>
              <a:rPr lang="en-US" sz="2800" b="1" dirty="0">
                <a:latin typeface="Poppins" panose="00000500000000000000" pitchFamily="2" charset="0"/>
                <a:cs typeface="Poppins" panose="00000500000000000000" pitchFamily="2" charset="0"/>
              </a:rPr>
              <a:t>GDSII</a:t>
            </a:r>
            <a:endParaRPr lang="en-IN" sz="28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2DB353-E749-9632-5FE4-19659A90A6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" y="713232"/>
            <a:ext cx="11576304" cy="5870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5974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8598E-83D9-4AFC-CD07-2E0590BC8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57466"/>
          </a:xfrm>
        </p:spPr>
        <p:txBody>
          <a:bodyPr>
            <a:normAutofit/>
          </a:bodyPr>
          <a:lstStyle/>
          <a:p>
            <a:pPr algn="l"/>
            <a:r>
              <a:rPr lang="en-US" sz="2800" b="1" dirty="0">
                <a:latin typeface="Poppins" panose="00000500000000000000" pitchFamily="2" charset="0"/>
                <a:cs typeface="Poppins" panose="00000500000000000000" pitchFamily="2" charset="0"/>
              </a:rPr>
              <a:t>Verification</a:t>
            </a:r>
            <a:endParaRPr lang="en-IN" sz="28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99E84FC-20F0-6B9F-07D2-577CB5F289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8922" y="1014984"/>
            <a:ext cx="11127966" cy="5349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6187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25B401A-06E5-6A03-F836-4AACEDDEB9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8922" y="448056"/>
            <a:ext cx="11027382" cy="5980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2645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EA1880-2086-9C41-B320-9AB4580100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374904"/>
            <a:ext cx="11173968" cy="5971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0696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7817116-FD04-086D-9D7A-E3475E1D56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" y="393192"/>
            <a:ext cx="11283696" cy="5980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3099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F6760C-187D-7D46-033D-97FC8B3B61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365760"/>
            <a:ext cx="11329416" cy="6080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6848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E2A173-5664-5004-6D6C-B689B3321C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" y="356616"/>
            <a:ext cx="11320272" cy="5879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268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88485-EEFB-42D3-9D6A-26FB89420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588070"/>
            <a:ext cx="8229600" cy="1143000"/>
          </a:xfrm>
        </p:spPr>
        <p:txBody>
          <a:bodyPr/>
          <a:lstStyle/>
          <a:p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Thank you</a:t>
            </a:r>
            <a:endParaRPr lang="en-IN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99517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525</TotalTime>
  <Words>586</Words>
  <Application>Microsoft Office PowerPoint</Application>
  <PresentationFormat>Widescreen</PresentationFormat>
  <Paragraphs>75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Calibri</vt:lpstr>
      <vt:lpstr>Inter</vt:lpstr>
      <vt:lpstr>Inter SemiBold</vt:lpstr>
      <vt:lpstr>Poppins</vt:lpstr>
      <vt:lpstr>Poppins SemiBold</vt:lpstr>
      <vt:lpstr>Office Theme</vt:lpstr>
      <vt:lpstr>PowerPoint Presentation</vt:lpstr>
      <vt:lpstr>Problem Statement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Cadence Synthesis</vt:lpstr>
      <vt:lpstr>Result Vivado:</vt:lpstr>
      <vt:lpstr>PowerPoint Presentation</vt:lpstr>
      <vt:lpstr>Design Rule Check</vt:lpstr>
      <vt:lpstr>Power Analysis</vt:lpstr>
      <vt:lpstr>Filter</vt:lpstr>
      <vt:lpstr>Verify Connectivity</vt:lpstr>
      <vt:lpstr>GDSII</vt:lpstr>
      <vt:lpstr>Verification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Abhiram</dc:creator>
  <cp:keywords/>
  <dc:description>generated using python-pptx</dc:description>
  <cp:lastModifiedBy>BELLAM  LOKESH</cp:lastModifiedBy>
  <cp:revision>13</cp:revision>
  <dcterms:created xsi:type="dcterms:W3CDTF">2013-01-27T09:14:16Z</dcterms:created>
  <dcterms:modified xsi:type="dcterms:W3CDTF">2026-10-11T04:57:11Z</dcterms:modified>
  <cp:category/>
</cp:coreProperties>
</file>